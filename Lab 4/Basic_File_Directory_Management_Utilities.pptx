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Software Engineering •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75320" y="651052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File &amp; Directory Management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777240"/>
            <a:ext cx="109728" cy="5120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143000"/>
            <a:ext cx="9784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File and Directory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Utilities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24128" y="2834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Linux Lab • Filesystem objects, paths, wildcards, copy/move/delete, directories, file types and timestamps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903720" y="4069080"/>
            <a:ext cx="438912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4069080"/>
            <a:ext cx="438912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50024" y="419709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96328" y="419709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419709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4142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student@linux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04888" y="4544568"/>
            <a:ext cx="398678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pwd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/home/student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 Downloads  lab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05840" y="6035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Department of Software Engineering •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What students should be able to do after this lab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73152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81912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1. Navigate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1984248"/>
            <a:ext cx="3108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Understand filesystem hierarchy, absolute paths, relative paths and directory navigation.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417320"/>
            <a:ext cx="73152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81912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2. Manage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1984248"/>
            <a:ext cx="3108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Create, copy, move, rename and remove files and directories safely.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19872" y="141732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1417320"/>
            <a:ext cx="73152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81912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3. Use patterns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02752" y="1984248"/>
            <a:ext cx="3108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Apply filename completion and wildcards to work with groups of files.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514600" y="347472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3474720"/>
            <a:ext cx="73152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3639312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4. Inspect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697480" y="4041648"/>
            <a:ext cx="3108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Identify file types and understand why extensions are only a convention on Linux.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347472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474720"/>
            <a:ext cx="73152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639312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5. Practice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46520" y="4041648"/>
            <a:ext cx="3108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Use touch, mkdir, rmdir and other utilities in hands-on lab tasks.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Filesystem Objects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Files store data; directories organize files and other directories.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9903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CORE CONCEPT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33375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74520"/>
            <a:ext cx="73152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3911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File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441448"/>
            <a:ext cx="30175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 place to store data — a possibly empty sequence of bytes.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41605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416052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32511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Directory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" y="4727448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 collection of files and other directories.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Filesystem hierarchy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/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589520" y="2148840"/>
            <a:ext cx="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2651760"/>
            <a:ext cx="4023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2651760"/>
            <a:ext cx="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3063240"/>
            <a:ext cx="914400" cy="502920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B8DE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3200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bin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0" y="2651760"/>
            <a:ext cx="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3063240"/>
            <a:ext cx="914400" cy="502920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B8DE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3200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home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601200" y="2651760"/>
            <a:ext cx="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3063240"/>
            <a:ext cx="914400" cy="502920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B8DE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3200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usr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72400" y="3566160"/>
            <a:ext cx="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4069080"/>
            <a:ext cx="91440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4206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jeff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0" y="4572000"/>
            <a:ext cx="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4983480"/>
            <a:ext cx="1828800" cy="548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5148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recipe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Paths and Names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Use / to separate directory and file names.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9903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PATHS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2880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993392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Absolute path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395728"/>
            <a:ext cx="5074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Starts from the root directory /.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Examples: /bin/ls   •   /usr/share/dict/words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44768" y="182880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182880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993392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Relative path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27648" y="2395728"/>
            <a:ext cx="5074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Starts from the current working directory.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Example: Documents/report.txt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05840" y="3840480"/>
            <a:ext cx="4663440" cy="1737360"/>
          </a:xfrm>
          <a:prstGeom prst="roundRect">
            <a:avLst>
              <a:gd name="adj" fmla="val 4211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840480"/>
            <a:ext cx="466344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" y="396849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98448" y="396849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44752" y="396849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3913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Path example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07008" y="4315968"/>
            <a:ext cx="426110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pwd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/home/jeff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recipe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/home/jeff/recipe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Remember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4251960"/>
            <a:ext cx="475488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/ means “start from root”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No leading / means “start from here”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A path can point to a file or a directory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 Extensions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Linux treats extensions as part of the filename — they are mostly a convention.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40156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6479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.txt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167128"/>
            <a:ext cx="30815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Text file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89704" y="1600200"/>
            <a:ext cx="340156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9704" y="1600200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176479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.gif / .jpg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72584" y="2167128"/>
            <a:ext cx="30815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Image files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93608" y="1600200"/>
            <a:ext cx="340156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93608" y="1600200"/>
            <a:ext cx="73152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6488" y="176479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.mp3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76488" y="2167128"/>
            <a:ext cx="30815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Audio file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3566160"/>
            <a:ext cx="340156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566160"/>
            <a:ext cx="73152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73075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.gz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4133088"/>
            <a:ext cx="30815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Compressed file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89704" y="3566160"/>
            <a:ext cx="340156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9704" y="3566160"/>
            <a:ext cx="73152" cy="1508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2584" y="373075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.tar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72584" y="4133088"/>
            <a:ext cx="30815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Archive file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93608" y="3566160"/>
            <a:ext cx="340156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3608" y="3566160"/>
            <a:ext cx="73152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76488" y="373075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.tar.gz / .tgz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476488" y="4133088"/>
            <a:ext cx="30815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Compressed archive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650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Important: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755648" y="565099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The kernel does not rely on the extension to decide what a file really is. Some applications 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Going Back to Previous Directories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pushd and popd provide a directory stack.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9903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NAVIGATION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74520"/>
            <a:ext cx="548640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" y="200253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0025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6152" y="200253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19476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pushd / popd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78408" y="2350008"/>
            <a:ext cx="5084064" cy="2642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pushd ~fred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/home/fred /home/student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Work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popd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/home/student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583680" y="1874520"/>
            <a:ext cx="48463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187452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039112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pushd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66560" y="2441448"/>
            <a:ext cx="4526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Change directory and remember where you came from.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83680" y="3337560"/>
            <a:ext cx="48463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333756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502152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popd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66560" y="3904488"/>
            <a:ext cx="4526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Return to the last directory saved by pushd.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0" y="480060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4800600"/>
            <a:ext cx="73152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4965192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dirs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766560" y="5367528"/>
            <a:ext cx="4526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Show the directory stack.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Filename Completion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Let the shell finish long names for you.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6400800" cy="3383280"/>
          </a:xfrm>
          <a:prstGeom prst="roundRect">
            <a:avLst>
              <a:gd name="adj" fmla="val 2162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640080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81965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8196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1872" y="181965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7647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Tab completion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24128" y="2167128"/>
            <a:ext cx="5998464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assignment-final.txt  assignment-notes.txt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assi&lt;Tab&gt;&lt;Tab&gt;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assignment-final.txt  assignment-notes.txt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assignment-f&lt;Tab&gt;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assignment-final.txt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543800" y="178308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178308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194767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Tab once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26680" y="2350008"/>
            <a:ext cx="3520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Complete the name when only one match exists.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543800" y="324612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324612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341071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Tab twice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26680" y="3813048"/>
            <a:ext cx="3520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In Bash, show possible matches if the name is ambiguous.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543800" y="470916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4709160"/>
            <a:ext cx="73152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487375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Bonus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26680" y="5276088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The shell also escapes spaces and special characters automatically.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Wildcard Patterns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Wildcards let one command target many files.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6479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*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167128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Matches any sequence of characters.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Example: *.txt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60020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76479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167128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Matches exactly one character.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Example: data.?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600200"/>
            <a:ext cx="73152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76479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Important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2167128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The shell expands wildcards before the program receives the filenames.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51560" y="3520440"/>
            <a:ext cx="100584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520440"/>
            <a:ext cx="1005840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7864" y="364845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44168" y="36484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90472" y="364845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35935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Wildcard examples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52728" y="3995928"/>
            <a:ext cx="9656064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*.txt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accounts.txt  letter.txt  report.txt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 -v data.?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removing data.1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removing data.2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removing data.3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Copying Files with cp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Syntax: cp [options] source-file destination-file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3375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73152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7335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-f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075688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Force overwrite of destination files.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1508760"/>
            <a:ext cx="33375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508760"/>
            <a:ext cx="7315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7335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-i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075688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Prompt before overwriting.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3375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50876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67335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-a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2075688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Archive mode; recursively copy directories and preserve attributes.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3154680"/>
            <a:ext cx="576072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154680"/>
            <a:ext cx="576072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" y="328269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" y="328269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53312" y="328269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32278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cp examples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15568" y="3630168"/>
            <a:ext cx="5358384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/etc/smb.conf 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-a work work-backup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*.gif *.jpeg images/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866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Mental model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3703320"/>
            <a:ext cx="43891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One source → one destination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Many files → destination directory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Use -i when overwriting matters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Moving and Renaming with mv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mv changes a path: rename a file, rename a directory, or move it elsewhere.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5669280" cy="2331720"/>
          </a:xfrm>
          <a:prstGeom prst="roundRect">
            <a:avLst>
              <a:gd name="adj" fmla="val 313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566928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" y="195681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" y="195681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7592" y="195681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901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mv examples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9848" y="2304288"/>
            <a:ext cx="5266944" cy="1728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 poetry.txt poems.txt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 * ~/old-stuff/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903720" y="1828800"/>
            <a:ext cx="4434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182880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1993392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Rename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86600" y="2395728"/>
            <a:ext cx="4114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mv old-name new-name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903720" y="3246120"/>
            <a:ext cx="4434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324612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3410712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Move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86600" y="3813048"/>
            <a:ext cx="4114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mv file target-directory/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03720" y="4663440"/>
            <a:ext cx="4434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663440"/>
            <a:ext cx="7315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4828032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Options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86600" y="5230368"/>
            <a:ext cx="4114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-f forces overwrite • -i asks before overwrite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Deleting Files with rm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Powerful and permanent — there is usually no recycle bin in the shell.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9903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 CAREFULLY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3911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-f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441448"/>
            <a:ext cx="2971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Delete without prompting, including write-protected files.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34840" y="187452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874520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03911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-i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441448"/>
            <a:ext cx="2971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Ask before deleting each target.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87452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03911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-r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2441448"/>
            <a:ext cx="2971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Recursively delete directories and their contents.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14400" y="365760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657600"/>
            <a:ext cx="512064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" y="378561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" y="378561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53312" y="378561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37307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Dangerous example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15568" y="4133088"/>
            <a:ext cx="471830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 -rf /tmp/*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4652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Safer habit: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46520" y="4069080"/>
            <a:ext cx="470916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88595" indent="-188595">
              <a:buSzPct val="100000"/>
              <a:buChar char="•"/>
            </a:pPr>
            <a:r>
              <a:rPr lang="en-US" sz="1650" dirty="0">
                <a:solidFill>
                  <a:srgbClr val="334155"/>
                </a:solidFill>
              </a:rPr>
              <a:t>Run ls on the same pattern first</a:t>
            </a:r>
            <a:endParaRPr lang="en-US" sz="1650" dirty="0"/>
          </a:p>
          <a:p>
            <a:pPr marL="188595" indent="-188595">
              <a:buSzPct val="100000"/>
              <a:buChar char="•"/>
            </a:pPr>
            <a:r>
              <a:rPr lang="en-US" sz="1650" dirty="0">
                <a:solidFill>
                  <a:srgbClr val="334155"/>
                </a:solidFill>
              </a:rPr>
              <a:t>Prefer rm -i while learning</a:t>
            </a:r>
            <a:endParaRPr lang="en-US" sz="1650" dirty="0"/>
          </a:p>
          <a:p>
            <a:pPr marL="188595" indent="-188595">
              <a:buSzPct val="100000"/>
              <a:buChar char="•"/>
            </a:pPr>
            <a:r>
              <a:rPr lang="en-US" sz="1650" dirty="0">
                <a:solidFill>
                  <a:srgbClr val="334155"/>
                </a:solidFill>
              </a:rPr>
              <a:t>Be especially careful when logged in as root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Deleting Files with Peculiar Names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Use ./ or -- when a filename begins with a hyphen.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760720" cy="2788920"/>
          </a:xfrm>
          <a:prstGeom prst="roundRect">
            <a:avLst>
              <a:gd name="adj" fmla="val 2623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576072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95681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95681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1872" y="195681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9019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Safe deletion patterns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24128" y="2304288"/>
            <a:ext cx="5358384" cy="2185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 ./-filename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 -- -filename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 -i ./name-with-funny-characters*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903720" y="1828800"/>
            <a:ext cx="4343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182880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1993392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Why ./ helps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86600" y="2395728"/>
            <a:ext cx="4023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It turns -filename into ./-filename, so rm no longer mistakes it for an option.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903720" y="3337560"/>
            <a:ext cx="4343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333756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3502152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Why -- helps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86600" y="3904488"/>
            <a:ext cx="4023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-- marks the end of options. Everything after it is treated as a filename.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03720" y="4846320"/>
            <a:ext cx="4343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846320"/>
            <a:ext cx="73152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5010912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Why -i helps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86600" y="541324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It gives you one last confirmation before deletion.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Creating Directories with mkdir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Syntax: mkdir directory-names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657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6479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-p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167128"/>
            <a:ext cx="3337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Create missing parent directories automatically.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17720" y="1600200"/>
            <a:ext cx="3657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60020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76479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-m mode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00600" y="2167128"/>
            <a:ext cx="3337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Create the directory with specific permissions.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503920" y="1600200"/>
            <a:ext cx="29260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1600200"/>
            <a:ext cx="73152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176479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755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0" y="2167128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Owner can read/write/execute; others can read/execute.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51560" y="3474720"/>
            <a:ext cx="10012680" cy="1737360"/>
          </a:xfrm>
          <a:prstGeom prst="roundRect">
            <a:avLst>
              <a:gd name="adj" fmla="val 4211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474720"/>
            <a:ext cx="1001268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7864" y="360273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44168" y="36027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90472" y="360273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3547872"/>
            <a:ext cx="9098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mkdir examples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52728" y="3950208"/>
            <a:ext cx="961034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-m 755 ~/mystuff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-p /tmp/one/two/three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Removing Directories with rmdir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rmdir removes empty directories only.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95681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95681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1872" y="195681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901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rmdir examples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24128" y="2304288"/>
            <a:ext cx="5084064" cy="2139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 images/*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rmdir images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rmdir -p a/b/c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29400" y="182880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182880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993392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Empty directory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12280" y="2395728"/>
            <a:ext cx="4434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Use rmdir directory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29400" y="333756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9400" y="3337560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502152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Non-empty directory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12280" y="3904488"/>
            <a:ext cx="4434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Use rm -r directory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29400" y="4846320"/>
            <a:ext cx="4754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84632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5010912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-p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12280" y="5413248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Remove the whole empty path chain.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Identifying File Types with file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The file command examines content instead of trusting the filename extension.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132320" cy="4251960"/>
          </a:xfrm>
          <a:prstGeom prst="roundRect">
            <a:avLst>
              <a:gd name="adj" fmla="val 1720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713232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72821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72821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0432" y="172821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6733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file examples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075688"/>
            <a:ext cx="6729984" cy="3648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file /bin/bash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/bin/bash: ELF executable ...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file /usr/bin/zless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/usr/bin/zless: Bourne shell script text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file /etc/passwd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/etc/passwd: ASCII text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183880" y="187452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3880" y="187452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039112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Useful for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66760" y="2441448"/>
            <a:ext cx="2926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Checking whether something is text, executable, archive, image, script, etc.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83880" y="356616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356616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3730752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Great for scripts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4133088"/>
            <a:ext cx="2926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 file may be executable but actually contain shell, Python or another script.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Changing Timestamps with touch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touch updates timestamps and can create empty files.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1907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touch file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121408"/>
            <a:ext cx="2240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Create the file if it does not exist; otherwise update times.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520440" y="155448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55448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71907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-a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03320" y="2121408"/>
            <a:ext cx="2240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Change access time only.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155448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55448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71907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-m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2121408"/>
            <a:ext cx="2240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Change modification time only.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89720" y="1554480"/>
            <a:ext cx="2331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89720" y="1554480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719072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-t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72600" y="2121408"/>
            <a:ext cx="2011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Set an exact timestamp.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05840" y="3429000"/>
            <a:ext cx="6492240" cy="178308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3429000"/>
            <a:ext cx="649224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52144" y="355701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98448" y="355701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44752" y="355701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350215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touch examples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07008" y="3904488"/>
            <a:ext cx="6089904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-t 200101201759 homework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baked-beans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 baked-beans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863840" y="38862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GNU touch also supports -d for more flexible date/time input.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Task 1 — Directory Practice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Create and remove a nested directory structure.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6400800" cy="4160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Go to your home directory and create dog.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Inside dog, create cat; inside cat, create mouse.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Remove all three directories — one by one or all at once.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Explain why rmdir is still useful when rm -r exists.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Create dog/cat/mouse with a single command.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06640" y="196596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965960"/>
            <a:ext cx="411480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52944" y="209397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99248" y="20939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45552" y="209397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2039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Possible solution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07808" y="2441448"/>
            <a:ext cx="3712464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-p dog/cat/mouse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rmdir -p dog/cat/mouse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52360" y="4389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</a:rPr>
              <a:t>Think before you run the final command: what condition must be true for rmdir -p to succeed?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Task 2 — File Operations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Practice copy, rename, bulk copy, deletion and cleanup.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6294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Copy /etc/passwd to your home directory and view it with cat.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Rename the copied file to users using mv.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Create a directory named programs and copy everything from /bin into it.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Delete all files from programs.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Delete the empty programs directory and the users file.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0" y="1691640"/>
            <a:ext cx="3977640" cy="283464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1691640"/>
            <a:ext cx="397764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44384" y="181965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90688" y="18196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36992" y="181965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7647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Starter commands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99248" y="2167128"/>
            <a:ext cx="3575304" cy="2231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/etc/passwd ~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~/passwd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 ~/passwd ~/users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~/programs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/bin/* ~/programs/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43800" y="4892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C2626"/>
                </a:solidFill>
              </a:rPr>
              <a:t>Cleanup requires care. Verify the path before deleting.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Task 3 — touch and Timestamps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Observe how timestamps change.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6035040" cy="3246120"/>
          </a:xfrm>
          <a:prstGeom prst="roundRect">
            <a:avLst>
              <a:gd name="adj" fmla="val 2254"/>
            </a:avLst>
          </a:prstGeom>
          <a:solidFill>
            <a:srgbClr val="111827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603504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177393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17739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177393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7190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Observe the modification time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78408" y="2121408"/>
            <a:ext cx="5632704" cy="2642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baked-beans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 baked-beans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...wait one minute...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baked-beans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 baked-beans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178040" y="1828800"/>
            <a:ext cx="420624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What changes when touch is run without a time?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Set the timestamp to a future date and inspect it again.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When finished, delete the file.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3035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Key idea: touch is often used to create empty files or update timestamps without changing file contents.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Recap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Core utilities from this lab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166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73152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81912"/>
            <a:ext cx="4855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Navigate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984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cd • pushd • popd • dirs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46520" y="1417320"/>
            <a:ext cx="5166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41732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581912"/>
            <a:ext cx="4855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Create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1984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mkdir • touch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2834640"/>
            <a:ext cx="5166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834640"/>
            <a:ext cx="73152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99232"/>
            <a:ext cx="4855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Copy / Move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34015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cp • mv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46520" y="2834640"/>
            <a:ext cx="5166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83464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999232"/>
            <a:ext cx="4855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Delete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34015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rm • rmdir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4251960"/>
            <a:ext cx="5166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251960"/>
            <a:ext cx="73152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416552"/>
            <a:ext cx="4855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Inspect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05840" y="48188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ls • file • cat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46520" y="4251960"/>
            <a:ext cx="5166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25196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416552"/>
            <a:ext cx="4855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Patterns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29400" y="48188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Tab completion • * • ?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828800" y="5715000"/>
            <a:ext cx="854964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5870448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Best practice: preview first, then modify — especially with wildcards and recursive deletion.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Department of Software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File and Directory Management Utilities</dc:title>
  <dc:subject>Basic File and Directory Management Utilities</dc:subject>
  <dc:creator>OpenAI</dc:creator>
  <cp:lastModifiedBy>OpenAI</cp:lastModifiedBy>
  <cp:revision>1</cp:revision>
  <dcterms:created xsi:type="dcterms:W3CDTF">2026-10-06T06:19:43Z</dcterms:created>
  <dcterms:modified xsi:type="dcterms:W3CDTF">2026-10-06T06:19:43Z</dcterms:modified>
</cp:coreProperties>
</file>