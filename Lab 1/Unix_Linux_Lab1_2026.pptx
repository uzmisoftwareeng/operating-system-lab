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65992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Software Engineering •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509760" y="6473952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Unix &amp; Linux Basics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732520" y="45720"/>
            <a:ext cx="3291840" cy="3291840"/>
          </a:xfrm>
          <a:prstGeom prst="arc">
            <a:avLst/>
          </a:prstGeom>
          <a:solidFill>
            <a:srgbClr val="1F4E79">
              <a:alpha val="95000"/>
            </a:srgbClr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100000">
            <a:off x="9372600" y="3657600"/>
            <a:ext cx="2560320" cy="2560320"/>
          </a:xfrm>
          <a:prstGeom prst="arc">
            <a:avLst/>
          </a:prstGeom>
          <a:solidFill>
            <a:srgbClr val="2E8B57">
              <a:alpha val="88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258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UNIX &amp; LINUX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8F5"/>
                </a:solidFill>
              </a:rPr>
              <a:t>Simple explanation of concepts, architecture, philosophy, installation, and lab tasks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2194560" cy="0"/>
          </a:xfrm>
          <a:prstGeom prst="line">
            <a:avLst/>
          </a:prstGeom>
          <a:noFill/>
          <a:ln w="38100">
            <a:solidFill>
              <a:srgbClr val="68B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566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BE0"/>
                </a:solidFill>
              </a:rPr>
              <a:t>Department of Software Engineering •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0B1728"/>
          </a:solidFill>
          <a:ln w="15240">
            <a:solidFill>
              <a:srgbClr val="4C6A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1463040"/>
            <a:ext cx="3474720" cy="384048"/>
          </a:xfrm>
          <a:prstGeom prst="rect">
            <a:avLst/>
          </a:prstGeom>
          <a:solidFill>
            <a:srgbClr val="1B2F49"/>
          </a:solidFill>
          <a:ln w="12700">
            <a:solidFill>
              <a:srgbClr val="1B2F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591056"/>
            <a:ext cx="109728" cy="109728"/>
          </a:xfrm>
          <a:prstGeom prst="ellipse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591056"/>
            <a:ext cx="109728" cy="10972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591056"/>
            <a:ext cx="109728" cy="109728"/>
          </a:xfrm>
          <a:prstGeom prst="ellipse">
            <a:avLst/>
          </a:prstGeom>
          <a:solidFill>
            <a:srgbClr val="64B56B"/>
          </a:solidFill>
          <a:ln w="12700">
            <a:solidFill>
              <a:srgbClr val="64B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2057400"/>
            <a:ext cx="278892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F6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whoami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F6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student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F6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uname -s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F6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Linux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F6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echo "Hello Linux"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Unix and Linux — what is the relationship?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Linux follows many Unix ideas, commands, standards, and conventions.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420624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Unix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1892808"/>
            <a:ext cx="2999232" cy="3493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An older family of operating systems.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It introduced many ideas that are still used today: multi-user systems, command-line tools, permissions, and small reusable programs.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Linux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1892808"/>
            <a:ext cx="2999232" cy="3493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A Unix-like operating system built around the Linux kernel.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Linux is not the original Unix, but it behaves similarly in many important ways.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1312" y="13258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325880"/>
            <a:ext cx="73152" cy="4206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Important note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892808"/>
            <a:ext cx="2999232" cy="3493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Different Unix systems can behave slightly differently.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The biggest differences often appear in system administration, package management, configuration, and hardware tools.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69080" y="5669280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E7F1FB"/>
          </a:solidFill>
          <a:ln w="12700">
            <a:solidFill>
              <a:srgbClr val="E7F1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5724144"/>
            <a:ext cx="40416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75B5"/>
                </a:solidFill>
              </a:rPr>
              <a:t>Easy idea: Linux learned a lot from Unix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Unix 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Applications do not directly control the hardware; they communicate through the kernel.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0" y="1325880"/>
            <a:ext cx="5303520" cy="640080"/>
          </a:xfrm>
          <a:prstGeom prst="roundRect">
            <a:avLst>
              <a:gd name="adj" fmla="val 7143"/>
            </a:avLst>
          </a:prstGeom>
          <a:solidFill>
            <a:srgbClr val="EAF2FB"/>
          </a:solidFill>
          <a:ln w="1905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5087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User Programs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84832"/>
            <a:ext cx="5303520" cy="640080"/>
          </a:xfrm>
          <a:prstGeom prst="roundRect">
            <a:avLst>
              <a:gd name="adj" fmla="val 7143"/>
            </a:avLst>
          </a:prstGeom>
          <a:solidFill>
            <a:srgbClr val="E9F6E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267712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Shell / Desktop / Window 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2843784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026664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</a:rPr>
              <a:t>Kernel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3913632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3E4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096512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22B"/>
                </a:solidFill>
              </a:rPr>
              <a:t>Hardware: CPU • Memory • Disk • Network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640080" cy="256032"/>
          </a:xfrm>
          <a:prstGeom prst="chevron">
            <a:avLst/>
          </a:prstGeom>
          <a:solidFill>
            <a:srgbClr val="AFC3D9"/>
          </a:solidFill>
          <a:ln w="12700">
            <a:solidFill>
              <a:srgbClr val="AFC3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724912"/>
            <a:ext cx="640080" cy="256032"/>
          </a:xfrm>
          <a:prstGeom prst="chevron">
            <a:avLst/>
          </a:prstGeom>
          <a:solidFill>
            <a:srgbClr val="AFC3D9"/>
          </a:solidFill>
          <a:ln w="12700">
            <a:solidFill>
              <a:srgbClr val="AFC3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657600"/>
            <a:ext cx="640080" cy="256032"/>
          </a:xfrm>
          <a:prstGeom prst="chevron">
            <a:avLst/>
          </a:prstGeom>
          <a:solidFill>
            <a:srgbClr val="AFC3D9"/>
          </a:solidFill>
          <a:ln w="12700">
            <a:solidFill>
              <a:srgbClr val="AFC3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325880"/>
            <a:ext cx="219456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1325880"/>
            <a:ext cx="73152" cy="36118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149047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Why the kernel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1892808"/>
            <a:ext cx="1810512" cy="28986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The kernel is the core part of the OS. It manages: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CPU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memory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files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devices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networking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permissions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0848" y="1325880"/>
            <a:ext cx="219456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1325880"/>
            <a:ext cx="73152" cy="3611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149047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Simple 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2016" y="1892808"/>
            <a:ext cx="1810512" cy="28986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When a program saves a file, it does not write directly to the hard disk.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It asks the kernel, and the kernel handles the hardware safely.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Unix Philosophy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Unix is designed around users, small tools, and combining simple components.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Multi-user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2999232" cy="35844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Many users can use the same computer or server.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Each user has an account and logs in.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Files, permissions, settings, and personal data are separated between users.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4297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Small components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1892808"/>
            <a:ext cx="2999232" cy="35844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A program should do one job well.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Instead of one huge tool doing everything, Unix prefers many focused tools.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25880"/>
            <a:ext cx="73152" cy="429768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Combine 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5048" y="1892808"/>
            <a:ext cx="2999232" cy="35844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Small tools can be connected to solve bigger tasks.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One tool can often be replaced by another without changing the rest of the workflow.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7881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Example: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57424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 file.txt  |  grep "error"  |  sort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57424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→ read a file, find matching lines, then sort them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What exactly is Linux?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Strictly speaking, Linux is the kernel. A complete Linux system includes much more.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194560" cy="2194560"/>
          </a:xfrm>
          <a:prstGeom prst="ellipse">
            <a:avLst/>
          </a:prstGeom>
          <a:solidFill>
            <a:srgbClr val="DCE6F1"/>
          </a:solidFill>
          <a:ln w="254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42316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65D"/>
                </a:solidFill>
              </a:rPr>
              <a:t>LINUX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65D"/>
                </a:solidFill>
              </a:rPr>
              <a:t>KERNEL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46120" y="2514600"/>
            <a:ext cx="502920" cy="502920"/>
          </a:xfrm>
          <a:prstGeom prst="plus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508760"/>
            <a:ext cx="29260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2159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783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Utilities &amp; 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0" y="2331720"/>
            <a:ext cx="2103120" cy="16002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</a:rPr>
              <a:t>shell commands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</a:rPr>
              <a:t>file tools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</a:rPr>
              <a:t>compilers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</a:rPr>
              <a:t>system programs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</a:rPr>
              <a:t>many GNU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59168" y="2395728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22B"/>
                </a:solidFill>
              </a:rPr>
              <a:t>=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FFF7EC"/>
          </a:solidFill>
          <a:ln w="2159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7830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</a:rPr>
              <a:t>Linux Distribution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331720"/>
            <a:ext cx="269748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30" dirty="0">
                <a:solidFill>
                  <a:srgbClr val="243447"/>
                </a:solidFill>
              </a:rPr>
              <a:t>A ready-to-use operating system package that includes the kernel, tools, installer, software manager, and desktop/server software.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4297680" y="489204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4946904"/>
            <a:ext cx="20299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</a:rPr>
              <a:t>Common term: GNU/Linux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53492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43447"/>
                </a:solidFill>
              </a:rPr>
              <a:t>Many important command-line tools come from the GNU project, so some people call the complete operating system “GNU/Linux”.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Linux Distributions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distribution (distro) packages Linux and other software for end users.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01368"/>
            <a:ext cx="822960" cy="822960"/>
          </a:xfrm>
          <a:prstGeom prst="ellipse">
            <a:avLst/>
          </a:prstGeom>
          <a:solidFill>
            <a:srgbClr val="E7F1FB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8424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Red 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Business and enterprise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01368"/>
            <a:ext cx="822960" cy="822960"/>
          </a:xfrm>
          <a:prstGeom prst="ellipse">
            <a:avLst/>
          </a:prstGeom>
          <a:solidFill>
            <a:srgbClr val="E9F6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8424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Debian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2240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Stable and community-driven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950208"/>
            <a:ext cx="822960" cy="822960"/>
          </a:xfrm>
          <a:prstGeom prst="ellipse">
            <a:avLst/>
          </a:prstGeom>
          <a:solidFill>
            <a:srgbClr val="E7F1FB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33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3886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Ubuntu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3891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Popular for beginners and servers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56616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50208"/>
            <a:ext cx="822960" cy="822960"/>
          </a:xfrm>
          <a:prstGeom prst="ellipse">
            <a:avLst/>
          </a:prstGeom>
          <a:solidFill>
            <a:srgbClr val="E9F6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133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3886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SUSE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43891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Enterprise and professional environments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5486400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EDF4FA"/>
          </a:solidFill>
          <a:ln w="12700">
            <a:solidFill>
              <a:srgbClr val="C9DC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5632704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75B5"/>
                </a:solidFill>
              </a:rPr>
              <a:t>Think of a distro as: Linux kernel + tools + installer + package manager + apps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Linux Installation — simple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Older manuals may mention CD/DVD installation; today the same idea is commonly done with a bootable USB.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554480"/>
            <a:ext cx="530352" cy="530352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91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Prepare space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Free disk space for Linux. Back up important files first.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554480"/>
            <a:ext cx="530352" cy="530352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91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57276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Boot installer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0288" y="217627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Start the computer from the Linux installation media.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1554480"/>
            <a:ext cx="530352" cy="530352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691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157276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Choose interface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85048" y="217627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Graphical installer is easier for beginners.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94360" y="361188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3794760"/>
            <a:ext cx="530352" cy="530352"/>
          </a:xfrm>
          <a:prstGeom prst="ellipse">
            <a:avLst/>
          </a:prstGeom>
          <a:solidFill>
            <a:srgbClr val="E9F6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3192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81304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Partition disk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95528" y="441655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Automatic partitioning is simpler for new users.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4389120" y="361188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794760"/>
            <a:ext cx="530352" cy="530352"/>
          </a:xfrm>
          <a:prstGeom prst="ellipse">
            <a:avLst/>
          </a:prstGeom>
          <a:solidFill>
            <a:srgbClr val="E9F6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93192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81304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Select software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90288" y="441655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Install development tools if you plan to program or use tools like NS-2.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8183880" y="3611880"/>
            <a:ext cx="33375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3794760"/>
            <a:ext cx="530352" cy="530352"/>
          </a:xfrm>
          <a:prstGeom prst="ellipse">
            <a:avLst/>
          </a:prstGeom>
          <a:solidFill>
            <a:srgbClr val="E9F6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393192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06840" y="381304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</a:rPr>
              <a:t>Finish &amp; reboot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85048" y="4416552"/>
            <a:ext cx="2880360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243447"/>
                </a:solidFill>
              </a:rPr>
              <a:t>Install the boot loader, restart, and log in.</a:t>
            </a:r>
            <a:endParaRPr lang="en-US" sz="117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Partitioning and Boot Loaders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These two ideas appear during Linux installation.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42976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3619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Partitioning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938528"/>
            <a:ext cx="4782312" cy="35844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A partition is a section of a hard disk/SSD. Linux may use separate partitions for different purposes.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Common examples: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/  (root) — main Linux system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swap — extra virtual memory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/home — user files (optional but common)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EFI System Partition — used on modern UEFI computers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71600"/>
            <a:ext cx="73152" cy="4297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Boot Loader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1938528"/>
            <a:ext cx="4782312" cy="35844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A boot loader starts an operating system when the computer powers 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Two well-known Linux boot loaders are: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GRUB / GRUB2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• LILO (older)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Today, GRUB2 is much more common.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94560" y="5760720"/>
            <a:ext cx="7772400" cy="310896"/>
          </a:xfrm>
          <a:prstGeom prst="roundRect">
            <a:avLst>
              <a:gd name="adj" fmla="val 23529"/>
            </a:avLst>
          </a:prstGeom>
          <a:solidFill>
            <a:srgbClr val="FFF3E4"/>
          </a:solidFill>
          <a:ln w="12700">
            <a:solidFill>
              <a:srgbClr val="FFF3E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A few useful Unix/Linux commands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Commands are small tools that can be used alone or combined.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4813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6200" y="148132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241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84248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pwd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86200" y="1984248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Show your current folder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350008"/>
            <a:ext cx="10241280" cy="438912"/>
          </a:xfrm>
          <a:prstGeom prst="rect">
            <a:avLst/>
          </a:prstGeom>
          <a:solidFill>
            <a:srgbClr val="F1F5F9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59736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86200" y="245973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List files and folders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825496"/>
            <a:ext cx="10241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35224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cd folder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86200" y="2935224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Move into another folder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300984"/>
            <a:ext cx="10241280" cy="438912"/>
          </a:xfrm>
          <a:prstGeom prst="rect">
            <a:avLst/>
          </a:prstGeom>
          <a:solidFill>
            <a:srgbClr val="F1F5F9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410712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mkdir test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3410712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Create a new folder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776472"/>
            <a:ext cx="10241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886200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cp a.txt b.txt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86200" y="3886200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Copy a file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251960"/>
            <a:ext cx="10241280" cy="438912"/>
          </a:xfrm>
          <a:prstGeom prst="rect">
            <a:avLst/>
          </a:prstGeom>
          <a:solidFill>
            <a:srgbClr val="F1F5F9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361688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mv a.txt old.txt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86200" y="4361688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Move or rename a file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10241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837176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rm file.txt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86200" y="483717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Delete a file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5202936"/>
            <a:ext cx="10241280" cy="438912"/>
          </a:xfrm>
          <a:prstGeom prst="rect">
            <a:avLst/>
          </a:prstGeom>
          <a:solidFill>
            <a:srgbClr val="F1F5F9"/>
          </a:solidFill>
          <a:ln w="7620">
            <a:solidFill>
              <a:srgbClr val="E3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312664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whoami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86200" y="5312664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Show the current username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94A48"/>
                </a:solidFill>
              </a:rPr>
              <a:t>Be careful with rm: deleted files may not go to a recycle bin.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Quick Recap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Remember these five ideas and the chapter becomes much easier.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" y="1325880"/>
            <a:ext cx="502920" cy="502920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23444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Linux is Unix-like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1261872"/>
            <a:ext cx="6355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It follows many Unix ideas and conventions.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E9F6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414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Kernel is the core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221992"/>
            <a:ext cx="6355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Programs access hardware through the kernel.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246120"/>
            <a:ext cx="502920" cy="502920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015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31546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Unix is multi-user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182112"/>
            <a:ext cx="6355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Users have separate accounts, files, and permissions.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502920" cy="502920"/>
          </a:xfrm>
          <a:prstGeom prst="ellipse">
            <a:avLst/>
          </a:prstGeom>
          <a:solidFill>
            <a:srgbClr val="E9F6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616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11480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Small tools work together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4142232"/>
            <a:ext cx="6355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Simple commands can be chained to do complex work.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5166360"/>
            <a:ext cx="502920" cy="502920"/>
          </a:xfrm>
          <a:prstGeom prst="ellipse">
            <a:avLst/>
          </a:prstGeom>
          <a:solidFill>
            <a:srgbClr val="E7F1FB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3218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75B5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50749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A distro is a package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5102352"/>
            <a:ext cx="6355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Kernel + utilities + installer + software = usable Linux 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71800" y="5779008"/>
            <a:ext cx="6217920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591616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Best study trick: understand the idea first, then memorize the terms.</a:t>
            </a:r>
            <a:endParaRPr lang="en-US" sz="12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46520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080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4797</Words>
  <Application>WPS Presentation</Application>
  <PresentationFormat>On-screen Show (16:9)</PresentationFormat>
  <Paragraphs>312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Courier New</vt:lpstr>
      <vt:lpstr>Courier New</vt:lpstr>
      <vt:lpstr>Courier New</vt:lpstr>
      <vt:lpstr>Aptos Display</vt:lpstr>
      <vt:lpstr>Aptos Display</vt:lpstr>
      <vt:lpstr>Aptos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Department of Software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and Linux Basics</dc:title>
  <dc:creator>OpenAI</dc:creator>
  <dc:subject>Unix and Linux - Simple Explanation</dc:subject>
  <cp:lastModifiedBy>PMYLS</cp:lastModifiedBy>
  <cp:revision>4</cp:revision>
  <dcterms:created xsi:type="dcterms:W3CDTF">2026-09-08T07:34:00Z</dcterms:created>
  <dcterms:modified xsi:type="dcterms:W3CDTF">2026-09-08T07:44:26Z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94B34CC6E746452CBD9F876B180C8C53_12</vt:lpwstr>
  </property>
  <property fmtid="{D5CDD505-2E9C-101B-9397-08002B2CF9AE}" pid="3" name="KSOProductBuildVer">
    <vt:lpwstr>1033-12.1.0.28485</vt:lpwstr>
  </property>
</Properties>
</file>